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-285750"/>
            <a:ext cx="5715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-285750"/>
            <a:ext cx="5715000" cy="571500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4797028"/>
            <a:ext cx="31364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E7E6E4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FOR GULF REGION ENTERPRISE &amp; GOVERNMENT BUYERS</a:t>
            </a:r>
            <a:endParaRPr lang="en-US" sz="619" dirty="0"/>
          </a:p>
        </p:txBody>
      </p:sp>
      <p:sp>
        <p:nvSpPr>
          <p:cNvPr id="5" name="Text 2"/>
          <p:cNvSpPr/>
          <p:nvPr/>
        </p:nvSpPr>
        <p:spPr>
          <a:xfrm>
            <a:off x="8170552" y="4797028"/>
            <a:ext cx="700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E7E6E4">
                    <a:alpha val="4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SEEKRA.PK</a:t>
            </a:r>
            <a:endParaRPr lang="en-US" sz="800" dirty="0"/>
          </a:p>
        </p:txBody>
      </p:sp>
      <p:pic>
        <p:nvPicPr>
          <p:cNvPr id="6" name="Image 1" descr="/home/z/my-project/download/sales_deck/logo-seek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25" y="1550194"/>
            <a:ext cx="514350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21824" y="2207419"/>
            <a:ext cx="1897197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3600" b="1" spc="-108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Seekra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4400550" y="3036094"/>
            <a:ext cx="342900" cy="14288"/>
          </a:xfrm>
          <a:prstGeom prst="rect">
            <a:avLst/>
          </a:prstGeom>
          <a:solidFill>
            <a:srgbClr val="B598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601566" y="3193256"/>
            <a:ext cx="2701532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223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PRESENTATION</a:t>
            </a:r>
            <a:endParaRPr lang="en-US" sz="1013" dirty="0"/>
          </a:p>
        </p:txBody>
      </p:sp>
      <p:sp>
        <p:nvSpPr>
          <p:cNvPr id="10" name="Text 6"/>
          <p:cNvSpPr/>
          <p:nvPr/>
        </p:nvSpPr>
        <p:spPr>
          <a:xfrm>
            <a:off x="4461830" y="3443288"/>
            <a:ext cx="3523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E7E6E4">
                    <a:alpha val="5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-1428750"/>
            <a:ext cx="4286250" cy="428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25" y="-1428750"/>
            <a:ext cx="4286250" cy="428625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424397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667284"/>
            <a:ext cx="7072313" cy="40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documents are buried</a:t>
            </a:r>
            <a:pPr algn="l" indent="0" marL="0">
              <a:lnSpc>
                <a:spcPts val="2970"/>
              </a:lnSpc>
              <a:buNone/>
            </a:pPr>
            <a:r>
              <a:rPr lang="en-US" sz="2700" b="1" spc="-67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460772" y="2390924"/>
            <a:ext cx="2316919" cy="1324608"/>
          </a:xfrm>
          <a:prstGeom prst="roundRect">
            <a:avLst>
              <a:gd name="adj" fmla="val 10067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5794" y="2565946"/>
            <a:ext cx="19668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4" kern="0" dirty="0">
                <a:solidFill>
                  <a:srgbClr val="B598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8" name="Text 5"/>
          <p:cNvSpPr/>
          <p:nvPr/>
        </p:nvSpPr>
        <p:spPr>
          <a:xfrm>
            <a:off x="635794" y="2858839"/>
            <a:ext cx="19668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locked in files</a:t>
            </a:r>
            <a:endParaRPr lang="en-US" sz="1013" dirty="0"/>
          </a:p>
        </p:txBody>
      </p:sp>
      <p:sp>
        <p:nvSpPr>
          <p:cNvPr id="9" name="Text 6"/>
          <p:cNvSpPr/>
          <p:nvPr/>
        </p:nvSpPr>
        <p:spPr>
          <a:xfrm>
            <a:off x="635794" y="3108871"/>
            <a:ext cx="1966875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-4" kern="0" dirty="0">
                <a:solidFill>
                  <a:srgbClr val="E7E6E4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Thousands of PDFs, scans, and Office documents nobody can effectively search. Staff spend hours locating a single clause.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956285" y="2390924"/>
            <a:ext cx="2316919" cy="1324608"/>
          </a:xfrm>
          <a:prstGeom prst="roundRect">
            <a:avLst>
              <a:gd name="adj" fmla="val 10067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3131307" y="2565946"/>
            <a:ext cx="1966875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4" kern="0" dirty="0">
                <a:solidFill>
                  <a:srgbClr val="B598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3131307" y="2858839"/>
            <a:ext cx="196687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AI takes your data</a:t>
            </a:r>
            <a:endParaRPr lang="en-US" sz="1013" dirty="0"/>
          </a:p>
        </p:txBody>
      </p:sp>
      <p:sp>
        <p:nvSpPr>
          <p:cNvPr id="13" name="Text 10"/>
          <p:cNvSpPr/>
          <p:nvPr/>
        </p:nvSpPr>
        <p:spPr>
          <a:xfrm>
            <a:off x="3131307" y="3108871"/>
            <a:ext cx="1966875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-4" kern="0" dirty="0">
                <a:solidFill>
                  <a:srgbClr val="E7E6E4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Mainstream AI assistants ask you to upload documents to their servers. For government, legal, healthcare — that's non-negotiable.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451797" y="2390924"/>
            <a:ext cx="2317031" cy="1324608"/>
          </a:xfrm>
          <a:prstGeom prst="roundRect">
            <a:avLst>
              <a:gd name="adj" fmla="val 10067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626819" y="2565946"/>
            <a:ext cx="196698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spc="-4" kern="0" dirty="0">
                <a:solidFill>
                  <a:srgbClr val="B598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16" name="Text 13"/>
          <p:cNvSpPr/>
          <p:nvPr/>
        </p:nvSpPr>
        <p:spPr>
          <a:xfrm>
            <a:off x="5626819" y="2858839"/>
            <a:ext cx="1966987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Answers without proof</a:t>
            </a:r>
            <a:endParaRPr lang="en-US" sz="1013" dirty="0"/>
          </a:p>
        </p:txBody>
      </p:sp>
      <p:sp>
        <p:nvSpPr>
          <p:cNvPr id="17" name="Text 14"/>
          <p:cNvSpPr/>
          <p:nvPr/>
        </p:nvSpPr>
        <p:spPr>
          <a:xfrm>
            <a:off x="5626819" y="3108871"/>
            <a:ext cx="1966987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spc="-4" kern="0" dirty="0">
                <a:solidFill>
                  <a:srgbClr val="E7E6E4">
                    <a:alpha val="6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an AI produces an answer with no link to its source, it can't be verified. In regulated environments, that's the same as no answer.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11672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SEEKRA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625984"/>
            <a:ext cx="7072313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Bring the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intelligence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your documents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62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485775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Runs on your infrastructure. Masks PII before any AI model. Proves every answer with a citation you can click.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460772" y="2689622"/>
            <a:ext cx="1714500" cy="1038523"/>
          </a:xfrm>
          <a:prstGeom prst="roundRect">
            <a:avLst>
              <a:gd name="adj" fmla="val 1284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18009" y="28646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635794" y="3136106"/>
            <a:ext cx="136445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635794" y="3325416"/>
            <a:ext cx="1419035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619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Cited Q&amp;A with page-level sources</a:t>
            </a:r>
            <a:endParaRPr lang="en-US" sz="619" dirty="0"/>
          </a:p>
        </p:txBody>
      </p:sp>
      <p:sp>
        <p:nvSpPr>
          <p:cNvPr id="9" name="Text 7"/>
          <p:cNvSpPr/>
          <p:nvPr/>
        </p:nvSpPr>
        <p:spPr>
          <a:xfrm>
            <a:off x="2325291" y="2689622"/>
            <a:ext cx="1714500" cy="1038523"/>
          </a:xfrm>
          <a:prstGeom prst="roundRect">
            <a:avLst>
              <a:gd name="adj" fmla="val 1284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82528" y="28646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969" dirty="0"/>
          </a:p>
        </p:txBody>
      </p:sp>
      <p:sp>
        <p:nvSpPr>
          <p:cNvPr id="11" name="Text 9"/>
          <p:cNvSpPr/>
          <p:nvPr/>
        </p:nvSpPr>
        <p:spPr>
          <a:xfrm>
            <a:off x="2500313" y="3136106"/>
            <a:ext cx="136445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2500313" y="3325416"/>
            <a:ext cx="140539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 by photograph — image similarity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89809" y="2689622"/>
            <a:ext cx="1714500" cy="1038523"/>
          </a:xfrm>
          <a:prstGeom prst="roundRect">
            <a:avLst>
              <a:gd name="adj" fmla="val 1284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47047" y="28646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969" dirty="0"/>
          </a:p>
        </p:txBody>
      </p:sp>
      <p:sp>
        <p:nvSpPr>
          <p:cNvPr id="15" name="Text 13"/>
          <p:cNvSpPr/>
          <p:nvPr/>
        </p:nvSpPr>
        <p:spPr>
          <a:xfrm>
            <a:off x="4364831" y="3136106"/>
            <a:ext cx="136445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Speak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4364831" y="3325416"/>
            <a:ext cx="1405390" cy="22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800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Arabic-first voice + navigation commands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54328" y="2689622"/>
            <a:ext cx="1714500" cy="1038523"/>
          </a:xfrm>
          <a:prstGeom prst="roundRect">
            <a:avLst>
              <a:gd name="adj" fmla="val 1284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11566" y="2864644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9" name="Text 17"/>
          <p:cNvSpPr/>
          <p:nvPr/>
        </p:nvSpPr>
        <p:spPr>
          <a:xfrm>
            <a:off x="6229350" y="3136106"/>
            <a:ext cx="1364456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229350" y="3325416"/>
            <a:ext cx="1419035" cy="158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97"/>
              </a:lnSpc>
              <a:buNone/>
            </a:pPr>
            <a:r>
              <a:rPr lang="en-US" sz="619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chain + PII lineage + provenance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87376"/>
            <a:ext cx="53535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· ASK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901689"/>
            <a:ext cx="4337685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53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Answers you can verify in one click</a:t>
            </a:r>
            <a:pPr algn="l" indent="0" marL="0">
              <a:lnSpc>
                <a:spcPts val="2351"/>
              </a:lnSpc>
              <a:buNone/>
            </a:pPr>
            <a:r>
              <a:rPr lang="en-US" sz="2138" b="1" spc="-53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57200" y="2641736"/>
            <a:ext cx="3943350" cy="94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✓Natural-language questions in Arabic or English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✓Every answer carries numbered citations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✓Click to open the exact source page in built-in viewer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✓Works with PDF, Word, Excel, PowerPoint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47022" y="1840632"/>
            <a:ext cx="3936206" cy="1462236"/>
          </a:xfrm>
          <a:prstGeom prst="roundRect">
            <a:avLst>
              <a:gd name="adj" fmla="val 7817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  <a:effectLst>
            <a:outerShdw sx="100000" sy="100000" kx="0" ky="0" algn="bl" rotWithShape="0" blurRad="381000" dist="114300" dir="5400000">
              <a:srgbClr val="B5987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750594" y="1844204"/>
            <a:ext cx="3929063" cy="228600"/>
          </a:xfrm>
          <a:prstGeom prst="rect">
            <a:avLst/>
          </a:prstGeom>
          <a:solidFill>
            <a:srgbClr val="F5F4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50594" y="2069232"/>
            <a:ext cx="3929063" cy="0"/>
          </a:xfrm>
          <a:prstGeom prst="line">
            <a:avLst/>
          </a:prstGeom>
          <a:noFill/>
          <a:ln w="7144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64894" y="1926357"/>
            <a:ext cx="57150" cy="57150"/>
          </a:xfrm>
          <a:prstGeom prst="ellipse">
            <a:avLst/>
          </a:prstGeom>
          <a:solidFill>
            <a:srgbClr val="B93C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64906" y="1926357"/>
            <a:ext cx="57150" cy="57150"/>
          </a:xfrm>
          <a:prstGeom prst="ellipse">
            <a:avLst/>
          </a:prstGeom>
          <a:solidFill>
            <a:srgbClr val="B598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64919" y="1926357"/>
            <a:ext cx="57150" cy="57150"/>
          </a:xfrm>
          <a:prstGeom prst="ellipse">
            <a:avLst/>
          </a:prstGeom>
          <a:solidFill>
            <a:srgbClr val="2020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13613" y="1901354"/>
            <a:ext cx="55174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-4" kern="0" dirty="0">
                <a:solidFill>
                  <a:srgbClr val="4A3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app.seekra.pk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97985" y="2215679"/>
            <a:ext cx="1438796" cy="242888"/>
          </a:xfrm>
          <a:prstGeom prst="roundRect">
            <a:avLst>
              <a:gd name="adj" fmla="val 31372"/>
            </a:avLst>
          </a:prstGeom>
          <a:solidFill>
            <a:srgbClr val="2020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097985" y="2215679"/>
            <a:ext cx="1438796" cy="310896"/>
          </a:xfrm>
          <a:prstGeom prst="rect">
            <a:avLst/>
          </a:prstGeom>
          <a:noFill/>
          <a:ln/>
        </p:spPr>
        <p:txBody>
          <a:bodyPr wrap="square" lIns="85725" tIns="57150" rIns="85725" bIns="5715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the data retention period?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93469" y="2544291"/>
            <a:ext cx="3786187" cy="97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SEEKRA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93469" y="2669307"/>
            <a:ext cx="3643313" cy="295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records must be retained for seven years from account closure</a:t>
            </a:r>
            <a:pPr algn="l" indent="0" marL="0">
              <a:lnSpc>
                <a:spcPts val="1046"/>
              </a:lnSpc>
              <a:buNone/>
            </a:pPr>
            <a:r>
              <a:rPr lang="en-US" sz="800" spc="-4" kern="0" dirty="0">
                <a:solidFill>
                  <a:srgbClr val="B598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[2]</a:t>
            </a:r>
            <a:pPr algn="l" indent="0" marL="0">
              <a:lnSpc>
                <a:spcPts val="1046"/>
              </a:lnSpc>
              <a:buNone/>
            </a:pPr>
            <a:r>
              <a:rPr lang="en-US" sz="8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Earlier versions specified five years</a:t>
            </a:r>
            <a:pPr algn="l" indent="0" marL="0">
              <a:lnSpc>
                <a:spcPts val="1046"/>
              </a:lnSpc>
              <a:buNone/>
            </a:pPr>
            <a:r>
              <a:rPr lang="en-US" sz="800" spc="-4" kern="0" dirty="0">
                <a:solidFill>
                  <a:srgbClr val="B5987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[1]</a:t>
            </a:r>
            <a:pPr algn="l" indent="0" marL="0">
              <a:lnSpc>
                <a:spcPts val="1046"/>
              </a:lnSpc>
              <a:buNone/>
            </a:pPr>
            <a:r>
              <a:rPr lang="en-US" sz="800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3469" y="2982257"/>
            <a:ext cx="665708" cy="184023"/>
          </a:xfrm>
          <a:prstGeom prst="roundRect">
            <a:avLst>
              <a:gd name="adj" fmla="val 5170807"/>
            </a:avLst>
          </a:prstGeom>
          <a:solidFill>
            <a:srgbClr val="B59876">
              <a:alpha val="15000"/>
            </a:srgbClr>
          </a:solidFill>
          <a:ln w="7144">
            <a:solidFill>
              <a:srgbClr val="B5987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93469" y="2992115"/>
            <a:ext cx="66570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-4" kern="0" dirty="0">
                <a:solidFill>
                  <a:srgbClr val="1F1A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[1] Policy v1 · p.3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02039" y="2982257"/>
            <a:ext cx="665708" cy="184023"/>
          </a:xfrm>
          <a:prstGeom prst="roundRect">
            <a:avLst>
              <a:gd name="adj" fmla="val 5170807"/>
            </a:avLst>
          </a:prstGeom>
          <a:solidFill>
            <a:srgbClr val="B59876">
              <a:alpha val="15000"/>
            </a:srgbClr>
          </a:solidFill>
          <a:ln w="7144">
            <a:solidFill>
              <a:srgbClr val="B5987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02039" y="2992115"/>
            <a:ext cx="66570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-4" kern="0" dirty="0">
                <a:solidFill>
                  <a:srgbClr val="1F1A1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[2] Policy v2 · p.3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5875" y="2286000"/>
            <a:ext cx="4286250" cy="428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285875" y="2286000"/>
            <a:ext cx="4286250" cy="428625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735262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CAPABILITY · SPEAK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949574"/>
            <a:ext cx="7040880" cy="356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Speak to your archive. In </a:t>
            </a:r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Arabic</a:t>
            </a:r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or English</a:t>
            </a:r>
            <a:pPr algn="l" indent="0" marL="0">
              <a:lnSpc>
                <a:spcPts val="2599"/>
              </a:lnSpc>
              <a:buNone/>
            </a:pPr>
            <a:r>
              <a:rPr lang="en-US" sz="2363" b="1" spc="-5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363" dirty="0"/>
          </a:p>
        </p:txBody>
      </p:sp>
      <p:sp>
        <p:nvSpPr>
          <p:cNvPr id="6" name="Text 3"/>
          <p:cNvSpPr/>
          <p:nvPr/>
        </p:nvSpPr>
        <p:spPr>
          <a:xfrm>
            <a:off x="457200" y="245097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547" dirty="0"/>
          </a:p>
        </p:txBody>
      </p:sp>
      <p:sp>
        <p:nvSpPr>
          <p:cNvPr id="7" name="Text 4"/>
          <p:cNvSpPr/>
          <p:nvPr/>
        </p:nvSpPr>
        <p:spPr>
          <a:xfrm>
            <a:off x="700088" y="2459906"/>
            <a:ext cx="2200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Speech in, spoken answers out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014663" y="2450976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547" dirty="0"/>
          </a:p>
        </p:txBody>
      </p:sp>
      <p:sp>
        <p:nvSpPr>
          <p:cNvPr id="9" name="Text 6"/>
          <p:cNvSpPr/>
          <p:nvPr/>
        </p:nvSpPr>
        <p:spPr>
          <a:xfrm>
            <a:off x="3257550" y="2459906"/>
            <a:ext cx="2200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Arabic as first-class — RTL + Naskh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27224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11" name="Text 8"/>
          <p:cNvSpPr/>
          <p:nvPr/>
        </p:nvSpPr>
        <p:spPr>
          <a:xfrm>
            <a:off x="700088" y="2731368"/>
            <a:ext cx="2200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-4" kern="0" dirty="0">
                <a:solidFill>
                  <a:srgbClr val="E7E6E4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Voice navigation: "open document 3"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014663" y="272243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3257550" y="2731368"/>
            <a:ext cx="22002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for Gulf — rare combination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60772" y="3054623"/>
            <a:ext cx="6393656" cy="350044"/>
          </a:xfrm>
          <a:prstGeom prst="roundRect">
            <a:avLst>
              <a:gd name="adj" fmla="val 21769"/>
            </a:avLst>
          </a:prstGeom>
          <a:solidFill>
            <a:srgbClr val="B59876">
              <a:alpha val="10000"/>
            </a:srgbClr>
          </a:solidFill>
          <a:ln w="7144">
            <a:solidFill>
              <a:srgbClr val="B5987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85245" y="3143920"/>
            <a:ext cx="4648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العربية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92981" y="3143920"/>
            <a:ext cx="914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6211" y="3143920"/>
            <a:ext cx="560605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English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25" y="-1428750"/>
            <a:ext cx="4286250" cy="428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25" y="-1428750"/>
            <a:ext cx="4286250" cy="428625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1230511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TRUST · GOVERNANCE TRIAD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1444823"/>
            <a:ext cx="6429375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56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answer traceable. Every PII masked. Every action auditable</a:t>
            </a:r>
            <a:pPr algn="l" indent="0" marL="0">
              <a:lnSpc>
                <a:spcPts val="2475"/>
              </a:lnSpc>
              <a:buNone/>
            </a:pPr>
            <a:r>
              <a:rPr lang="en-US" sz="2250" b="1" spc="-56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60772" y="2362795"/>
            <a:ext cx="2316919" cy="1264444"/>
          </a:xfrm>
          <a:prstGeom prst="roundRect">
            <a:avLst>
              <a:gd name="adj" fmla="val 10546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5794" y="25378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B5987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82943" y="258496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635794" y="2980730"/>
            <a:ext cx="19668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Tamper-evident audit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5794" y="3195042"/>
            <a:ext cx="1966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action is hash-chained. Any retroactive edit breaks the chain — detectable on demand.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956285" y="2362795"/>
            <a:ext cx="2316919" cy="1264444"/>
          </a:xfrm>
          <a:prstGeom prst="roundRect">
            <a:avLst>
              <a:gd name="adj" fmla="val 10546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131307" y="25378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B5987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178455" y="258496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3131307" y="2980730"/>
            <a:ext cx="196687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PII lineage tracking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131307" y="3195042"/>
            <a:ext cx="19668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When PII is masked before an LLM call, the event is logged. Prove it was never sent raw.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451797" y="2362795"/>
            <a:ext cx="2317031" cy="1264444"/>
          </a:xfrm>
          <a:prstGeom prst="roundRect">
            <a:avLst>
              <a:gd name="adj" fmla="val 10546"/>
            </a:avLst>
          </a:prstGeom>
          <a:solidFill>
            <a:srgbClr val="E7E6E4">
              <a:alpha val="5000"/>
            </a:srgbClr>
          </a:solidFill>
          <a:ln w="7144">
            <a:solidFill>
              <a:srgbClr val="E7E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626819" y="2537817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B5987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673968" y="2584966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19" name="Text 16"/>
          <p:cNvSpPr/>
          <p:nvPr/>
        </p:nvSpPr>
        <p:spPr>
          <a:xfrm>
            <a:off x="5626819" y="2980730"/>
            <a:ext cx="196698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Provenance graph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626819" y="3195042"/>
            <a:ext cx="19669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>
                    <a:alpha val="6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Trace any answer to its source chunk, PII findings, and LLM calls that received the masked version.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7200" y="377368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spc="-4" kern="0" dirty="0">
                <a:solidFill>
                  <a:srgbClr val="E7E6E4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competitor in the Gulf offers this combination.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6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92671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SEEKRA COMPARES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406984"/>
            <a:ext cx="8636000" cy="305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2025" b="1" spc="-51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 honest comparison</a:t>
            </a:r>
            <a:pPr algn="l" indent="0" marL="0">
              <a:lnSpc>
                <a:spcPts val="2228"/>
              </a:lnSpc>
              <a:buNone/>
            </a:pPr>
            <a:r>
              <a:rPr lang="en-US" sz="2025" b="1" spc="-51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1807704"/>
            <a:ext cx="8222456" cy="1950244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4344" y="1811275"/>
          <a:ext cx="8215313" cy="914400"/>
        </p:xfrm>
        <a:graphic>
          <a:graphicData uri="http://schemas.openxmlformats.org/drawingml/2006/table">
            <a:tbl>
              <a:tblPr/>
              <a:tblGrid>
                <a:gridCol w="4518422"/>
                <a:gridCol w="1807369"/>
                <a:gridCol w="188952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Capability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Seekra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Cloud AI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100013" marT="100013" marB="57150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Data residency inside your infrastructure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Air-gapped / offline option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PII masked at source (provable)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Tamper-evident audit trail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Document version diff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Voice-driven document navigation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93C32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✗ 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Arabic voice (first-class)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3F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Partial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A14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Confidence-aware answers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B5987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✓ Yes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A3F33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Partial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2863" marR="100013" marT="100013" marB="42863" anchor="ctr">
                    <a:lnL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1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32957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AI tools are excellent generalists. This comparison concerns enterprise data handling.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D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98377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512689"/>
            <a:ext cx="8636000" cy="33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b="1" spc="-56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tiers. One platform. You choose</a:t>
            </a:r>
            <a:pPr algn="l" indent="0" marL="0">
              <a:lnSpc>
                <a:spcPts val="2475"/>
              </a:lnSpc>
              <a:buNone/>
            </a:pPr>
            <a:r>
              <a:rPr lang="en-US" sz="2250" b="1" spc="-56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460772" y="2116336"/>
            <a:ext cx="2316919" cy="1421606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5794" y="2291358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5987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0801" y="234636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969" dirty="0"/>
          </a:p>
        </p:txBody>
      </p:sp>
      <p:sp>
        <p:nvSpPr>
          <p:cNvPr id="7" name="Text 5"/>
          <p:cNvSpPr/>
          <p:nvPr/>
        </p:nvSpPr>
        <p:spPr>
          <a:xfrm>
            <a:off x="635794" y="2791420"/>
            <a:ext cx="1966875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Native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35794" y="3048595"/>
            <a:ext cx="1966875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cloud tenant. External AI models with PII masking. Fastest to deploy.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5794" y="3377208"/>
            <a:ext cx="19668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FASTEST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56285" y="2116336"/>
            <a:ext cx="2316919" cy="1421606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7144">
            <a:solidFill>
              <a:srgbClr val="1F1A1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31307" y="2291358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59876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86313" y="2346365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3131307" y="2791420"/>
            <a:ext cx="1966875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-4" kern="0" dirty="0">
                <a:solidFill>
                  <a:srgbClr val="1F1A1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Self-Hosted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3131307" y="3048595"/>
            <a:ext cx="1966875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Your infrastructure. Local AI models. Full data sovereignty. Nothing leaves your network.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131307" y="3377208"/>
            <a:ext cx="196687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SOVEREIGN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51797" y="2044898"/>
            <a:ext cx="2317031" cy="1564481"/>
          </a:xfrm>
          <a:prstGeom prst="roundRect">
            <a:avLst>
              <a:gd name="adj" fmla="val 8524"/>
            </a:avLst>
          </a:prstGeom>
          <a:solidFill>
            <a:srgbClr val="202020"/>
          </a:solidFill>
          <a:ln w="7144">
            <a:solidFill>
              <a:srgbClr val="B5987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0188" y="1827014"/>
            <a:ext cx="2000250" cy="200025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610188" y="1827014"/>
            <a:ext cx="2000250" cy="200025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26819" y="2219920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B59876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681826" y="2274927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969" dirty="0"/>
          </a:p>
        </p:txBody>
      </p:sp>
      <p:sp>
        <p:nvSpPr>
          <p:cNvPr id="21" name="Text 18"/>
          <p:cNvSpPr/>
          <p:nvPr/>
        </p:nvSpPr>
        <p:spPr>
          <a:xfrm>
            <a:off x="5626819" y="2719983"/>
            <a:ext cx="1966987" cy="2297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Air-Gapped</a:t>
            </a:r>
            <a:endParaRPr lang="en-US" sz="1125" dirty="0"/>
          </a:p>
        </p:txBody>
      </p:sp>
      <p:sp>
        <p:nvSpPr>
          <p:cNvPr id="22" name="Text 19"/>
          <p:cNvSpPr/>
          <p:nvPr/>
        </p:nvSpPr>
        <p:spPr>
          <a:xfrm>
            <a:off x="5626819" y="2977158"/>
            <a:ext cx="1966987" cy="30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>
                    <a:alpha val="78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Fully isolated. No external network. Updates via physical media.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26819" y="3305770"/>
            <a:ext cx="196698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MAXIMUM SECURITY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37272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i="1" spc="-4" kern="0" dirty="0">
                <a:solidFill>
                  <a:srgbClr val="4A3F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pricing is published. Deployment tier discussed in person during the demo.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-285750"/>
            <a:ext cx="5715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14500" y="-285750"/>
            <a:ext cx="5715000" cy="5715000"/>
          </a:xfrm>
          <a:prstGeom prst="ellipse">
            <a:avLst/>
          </a:prstGeom>
          <a:solidFill>
            <a:srgbClr val="B59876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482560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E7E6E4">
                    <a:alpha val="4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© 2026 SEEKRA · SEEKRA.PK</a:t>
            </a:r>
            <a:endParaRPr lang="en-US" sz="800" dirty="0"/>
          </a:p>
        </p:txBody>
      </p:sp>
      <p:pic>
        <p:nvPicPr>
          <p:cNvPr id="5" name="Image 1" descr="/home/z/my-project/download/sales_deck/logo-seek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0550" y="1486681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125555" y="1972456"/>
            <a:ext cx="28928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B5987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 SEEKRA ON YOUR OWN DOCUMENTS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274320" y="2215344"/>
            <a:ext cx="8595248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65"/>
              </a:lnSpc>
              <a:buNone/>
            </a:pPr>
            <a:r>
              <a:rPr lang="en-US" sz="3150" b="1" spc="-79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Tell us about your archive</a:t>
            </a:r>
            <a:pPr algn="ctr" indent="0" marL="0">
              <a:lnSpc>
                <a:spcPts val="3465"/>
              </a:lnSpc>
              <a:buNone/>
            </a:pPr>
            <a:r>
              <a:rPr lang="en-US" sz="3150" b="1" spc="-79" kern="0" dirty="0">
                <a:solidFill>
                  <a:srgbClr val="B93C3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3150" dirty="0"/>
          </a:p>
        </p:txBody>
      </p:sp>
      <p:sp>
        <p:nvSpPr>
          <p:cNvPr id="8" name="Text 4"/>
          <p:cNvSpPr/>
          <p:nvPr/>
        </p:nvSpPr>
        <p:spPr>
          <a:xfrm>
            <a:off x="2357438" y="2769654"/>
            <a:ext cx="4429125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spc="-4" kern="0" dirty="0">
                <a:solidFill>
                  <a:srgbClr val="E7E6E4">
                    <a:alpha val="7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Arrange a live demo on a sample of your own documents. We'll walk your team through Ask, See, Speak, and Trust.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120502" y="3322548"/>
            <a:ext cx="1192962" cy="347072"/>
          </a:xfrm>
          <a:prstGeom prst="roundRect">
            <a:avLst>
              <a:gd name="adj" fmla="val 2741643"/>
            </a:avLst>
          </a:prstGeom>
          <a:solidFill>
            <a:srgbClr val="B5987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287382" y="3435362"/>
            <a:ext cx="687751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spc="-4" kern="0" dirty="0">
                <a:solidFill>
                  <a:srgbClr val="20202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Book a Demo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004853" y="3438934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0202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4462053" y="335320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B5987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266" dirty="0"/>
          </a:p>
        </p:txBody>
      </p:sp>
      <p:sp>
        <p:nvSpPr>
          <p:cNvPr id="13" name="Text 9"/>
          <p:cNvSpPr/>
          <p:nvPr/>
        </p:nvSpPr>
        <p:spPr>
          <a:xfrm>
            <a:off x="4647791" y="3342494"/>
            <a:ext cx="14610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-4" kern="0" dirty="0">
                <a:solidFill>
                  <a:srgbClr val="E7E6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rahmirz.consulting@gmail.com</a:t>
            </a:r>
            <a:endParaRPr lang="en-US" sz="788" dirty="0"/>
          </a:p>
        </p:txBody>
      </p:sp>
      <p:sp>
        <p:nvSpPr>
          <p:cNvPr id="14" name="Text 10"/>
          <p:cNvSpPr/>
          <p:nvPr/>
        </p:nvSpPr>
        <p:spPr>
          <a:xfrm>
            <a:off x="4462053" y="3521087"/>
            <a:ext cx="1969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-4" kern="0" dirty="0">
                <a:solidFill>
                  <a:srgbClr val="E7E6E4">
                    <a:alpha val="5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seekra.pk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2026-08-13T16:38:41Z</dcterms:created>
  <dcterms:modified xsi:type="dcterms:W3CDTF">2026-08-13T16:38:41Z</dcterms:modified>
</cp:coreProperties>
</file>